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6C63F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4023360" cy="4023360"/>
          </a:xfrm>
          <a:prstGeom prst="ellipse">
            <a:avLst/>
          </a:prstGeom>
          <a:solidFill>
            <a:srgbClr val="17D7C4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7D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Generative AI Roadmap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 by phase learning path from foundations to autonomous AI agents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189863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92040"/>
            <a:ext cx="11898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59127" y="4892040"/>
            <a:ext cx="1189863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59127" y="4892040"/>
            <a:ext cx="11898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95294" y="4892040"/>
            <a:ext cx="1189863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5294" y="4892040"/>
            <a:ext cx="11898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31461" y="4892040"/>
            <a:ext cx="1189863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1461" y="4892040"/>
            <a:ext cx="11898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7628" y="4892040"/>
            <a:ext cx="1189863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6C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7628" y="4892040"/>
            <a:ext cx="11898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03795" y="4892040"/>
            <a:ext cx="1189863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03795" y="4892040"/>
            <a:ext cx="11898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39962" y="4892040"/>
            <a:ext cx="1189863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39962" y="4892040"/>
            <a:ext cx="11898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176129" y="4892040"/>
            <a:ext cx="1189863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76129" y="4892040"/>
            <a:ext cx="11898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a self study and team onboarding guide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Roadmap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phases, moving from core fundamentals to production ready AI systems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60120" y="3246120"/>
            <a:ext cx="10241280" cy="0"/>
          </a:xfrm>
          <a:prstGeom prst="line">
            <a:avLst/>
          </a:prstGeom>
          <a:noFill/>
          <a:ln w="25400">
            <a:solidFill>
              <a:srgbClr val="D7D8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2857500"/>
            <a:ext cx="777240" cy="77724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6" name="Image 0" descr="icons/found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3051810"/>
            <a:ext cx="388620" cy="3886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7824" y="3163824"/>
            <a:ext cx="164592" cy="164592"/>
          </a:xfrm>
          <a:prstGeom prst="ellipse">
            <a:avLst/>
          </a:prstGeom>
          <a:solidFill>
            <a:srgbClr val="17D7C4"/>
          </a:solidFill>
          <a:ln w="19050">
            <a:solidFill>
              <a:srgbClr val="FAFA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20802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D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82880" y="23362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034540" y="2857500"/>
            <a:ext cx="777240" cy="777240"/>
          </a:xfrm>
          <a:prstGeom prst="ellipse">
            <a:avLst/>
          </a:prstGeom>
          <a:solidFill>
            <a:srgbClr val="13163B"/>
          </a:solidFill>
          <a:ln/>
        </p:spPr>
      </p:sp>
      <p:pic>
        <p:nvPicPr>
          <p:cNvPr id="11" name="Image 1" descr="icons/deeple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3051810"/>
            <a:ext cx="388620" cy="3886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340864" y="3163824"/>
            <a:ext cx="164592" cy="164592"/>
          </a:xfrm>
          <a:prstGeom prst="ellipse">
            <a:avLst/>
          </a:prstGeom>
          <a:solidFill>
            <a:srgbClr val="17D7C4"/>
          </a:solidFill>
          <a:ln w="19050">
            <a:solidFill>
              <a:srgbClr val="FAFAF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783080" y="37993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D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645920" y="405536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NLP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497580" y="2857500"/>
            <a:ext cx="777240" cy="77724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6" name="Image 2" descr="icons/ll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890" y="3051810"/>
            <a:ext cx="388620" cy="3886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803904" y="3163824"/>
            <a:ext cx="164592" cy="164592"/>
          </a:xfrm>
          <a:prstGeom prst="ellipse">
            <a:avLst/>
          </a:prstGeom>
          <a:solidFill>
            <a:srgbClr val="17D7C4"/>
          </a:solidFill>
          <a:ln w="19050">
            <a:solidFill>
              <a:srgbClr val="FAFAF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46120" y="20802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D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108960" y="23362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960620" y="2857500"/>
            <a:ext cx="777240" cy="777240"/>
          </a:xfrm>
          <a:prstGeom prst="ellipse">
            <a:avLst/>
          </a:prstGeom>
          <a:solidFill>
            <a:srgbClr val="13163B"/>
          </a:solidFill>
          <a:ln/>
        </p:spPr>
      </p:sp>
      <p:pic>
        <p:nvPicPr>
          <p:cNvPr id="21" name="Image 3" descr="icons/promp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930" y="3051810"/>
            <a:ext cx="388620" cy="3886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266944" y="3163824"/>
            <a:ext cx="164592" cy="164592"/>
          </a:xfrm>
          <a:prstGeom prst="ellipse">
            <a:avLst/>
          </a:prstGeom>
          <a:solidFill>
            <a:srgbClr val="17D7C4"/>
          </a:solidFill>
          <a:ln w="19050">
            <a:solidFill>
              <a:srgbClr val="FAFAFC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709160" y="37993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D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0" y="405536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423660" y="2857500"/>
            <a:ext cx="777240" cy="77724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26" name="Image 4" descr="icons/r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970" y="3051810"/>
            <a:ext cx="388620" cy="3886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729984" y="3163824"/>
            <a:ext cx="164592" cy="164592"/>
          </a:xfrm>
          <a:prstGeom prst="ellipse">
            <a:avLst/>
          </a:prstGeom>
          <a:solidFill>
            <a:srgbClr val="17D7C4"/>
          </a:solidFill>
          <a:ln w="19050">
            <a:solidFill>
              <a:srgbClr val="FAFAFC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172200" y="20802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D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035040" y="23362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Gen.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886700" y="2857500"/>
            <a:ext cx="777240" cy="777240"/>
          </a:xfrm>
          <a:prstGeom prst="ellipse">
            <a:avLst/>
          </a:prstGeom>
          <a:solidFill>
            <a:srgbClr val="13163B"/>
          </a:solidFill>
          <a:ln/>
        </p:spPr>
      </p:sp>
      <p:pic>
        <p:nvPicPr>
          <p:cNvPr id="31" name="Image 5" descr="icons/finetu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1010" y="3051810"/>
            <a:ext cx="388620" cy="38862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8193024" y="3163824"/>
            <a:ext cx="164592" cy="164592"/>
          </a:xfrm>
          <a:prstGeom prst="ellipse">
            <a:avLst/>
          </a:prstGeom>
          <a:solidFill>
            <a:srgbClr val="17D7C4"/>
          </a:solidFill>
          <a:ln w="19050">
            <a:solidFill>
              <a:srgbClr val="FAFAFC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7635240" y="37993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D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7498080" y="405536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9349740" y="2857500"/>
            <a:ext cx="777240" cy="77724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36" name="Image 6" descr="icons/agent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4050" y="3051810"/>
            <a:ext cx="388620" cy="38862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9656064" y="3163824"/>
            <a:ext cx="164592" cy="164592"/>
          </a:xfrm>
          <a:prstGeom prst="ellipse">
            <a:avLst/>
          </a:prstGeom>
          <a:solidFill>
            <a:srgbClr val="17D7C4"/>
          </a:solidFill>
          <a:ln w="19050">
            <a:solidFill>
              <a:srgbClr val="FAFAFC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098280" y="20802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D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8961120" y="23362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10812780" y="2857500"/>
            <a:ext cx="777240" cy="777240"/>
          </a:xfrm>
          <a:prstGeom prst="ellipse">
            <a:avLst/>
          </a:prstGeom>
          <a:solidFill>
            <a:srgbClr val="13163B"/>
          </a:solidFill>
          <a:ln/>
        </p:spPr>
      </p:sp>
      <p:pic>
        <p:nvPicPr>
          <p:cNvPr id="41" name="Image 7" descr="icons/deplo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7090" y="3051810"/>
            <a:ext cx="388620" cy="388620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11119104" y="3163824"/>
            <a:ext cx="164592" cy="164592"/>
          </a:xfrm>
          <a:prstGeom prst="ellipse">
            <a:avLst/>
          </a:prstGeom>
          <a:solidFill>
            <a:srgbClr val="17D7C4"/>
          </a:solidFill>
          <a:ln w="19050">
            <a:solidFill>
              <a:srgbClr val="FAFAFC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10561320" y="37993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D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10424160" y="405536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64008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builds directly on the skills from the one before it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316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C6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960120" cy="96012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5" name="Image 0" descr="icons/found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164774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06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36576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base layer every later phase depends on: comfort with Python, core math intuition, and how machine learning models actually learn.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5623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5897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NumPy, pandas, Jupyter notebooks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26280" y="5029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26280" y="1005840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82312" y="1371600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3" name="Image 1" descr="icons/founda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871" y="1499159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13385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and ML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77840" y="1463040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syntax, data structures, NumPy and pandas for working with numerical and tabular data.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26280" y="2505456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82312" y="2871216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8" name="Image 2" descr="icons/deeple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871" y="2998775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77840" y="263347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intuition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577840" y="2962656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(vectors, matrices), probability, and calculus concepts used in gradient based learning.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26280" y="4005072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82312" y="4370832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23" name="Image 3" descr="icons/ll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871" y="4498391"/>
            <a:ext cx="311810" cy="3118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413308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machine learning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577840" y="4462272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vs unsupervised learning, regression, classification, and how models are trained and evaluated.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526280" y="5504688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82312" y="5870448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28" name="Image 4" descr="icons/resourc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871" y="5998007"/>
            <a:ext cx="311810" cy="31181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77840" y="563270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basics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577840" y="5961888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Perceptrons, activation functions, forward and backward propagation, loss functions and optimizers.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316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7D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960120" cy="960120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5" name="Image 0" descr="icons/deeple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164774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06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&amp; NLP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36576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general neural networks into the architectures and language processing ideas that generative models are built on.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5623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7D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5897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TensorFlow, Hugging Face datasets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26280" y="5029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26280" y="1005840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82312" y="1371600"/>
            <a:ext cx="566928" cy="566928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13" name="Image 1" descr="icons/deeple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871" y="1499159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13385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77840" y="1463040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and RNNs, why sequence data is hard, and the vanishing gradient problem they run into.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26280" y="2505456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82312" y="2871216"/>
            <a:ext cx="566928" cy="566928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18" name="Image 2" descr="icons/ll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871" y="2998775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77840" y="263347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architecture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577840" y="2962656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attention, positional encoding, encoder and decoder blocks, and why Transformers replaced RNNs.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26280" y="4005072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82312" y="4370832"/>
            <a:ext cx="566928" cy="566928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23" name="Image 3" descr="icons/promp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871" y="4498391"/>
            <a:ext cx="311810" cy="3118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413308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representation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577840" y="4462272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word and sentence embeddings, and how raw text becomes numerical input for a model.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526280" y="5504688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82312" y="5870448"/>
            <a:ext cx="566928" cy="566928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28" name="Image 4" descr="icons/foundatio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871" y="5998007"/>
            <a:ext cx="311810" cy="31181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77840" y="563270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NLP tasks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577840" y="5961888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named entity recognition, summarization, and translation as building blocks for GenAI.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316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C6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960120" cy="96012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5" name="Image 0" descr="icons/l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164774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06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36576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today's LLMs are trained, how they generate text, and the landscape of models available to build with.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5623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5897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Anthropic, Google, Meta Llama, Mistral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26280" y="5029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26280" y="1005840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82312" y="1371600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3" name="Image 1" descr="icons/ll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871" y="1499159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13385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and scale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77840" y="1463040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learn from massive text corpora, and why model and data size drive capability.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26280" y="2505456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82312" y="2871216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8" name="Image 2" descr="icons/resourc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871" y="2998775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77840" y="263347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tuning &amp; RLHF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577840" y="2962656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base model becomes a helpful assistant through supervised fine-tuning and human feedback.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26280" y="4005072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82312" y="4370832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23" name="Image 3" descr="icons/deeple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871" y="4498391"/>
            <a:ext cx="311810" cy="3118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413308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mechanics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577840" y="4462272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decoding, temperature, top-k and top-p sampling, and context window limits.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526280" y="5504688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82312" y="5870448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28" name="Image 4" descr="icons/ag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871" y="5998007"/>
            <a:ext cx="311810" cy="31181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77840" y="563270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landscape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577840" y="5961888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proprietary and open-weight model families, and choosing a model for a given task.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316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7D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960120" cy="960120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5" name="Image 0" descr="icons/prom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164774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06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36576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reliably steer a model's output through prompt design, before reaching for retrieval or fine-tuning.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5623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7D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5897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prompts, prompt libraries, eval frameworks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26280" y="5029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26280" y="1005840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82312" y="1371600"/>
            <a:ext cx="566928" cy="566928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13" name="Image 1" descr="icons/prom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871" y="1499159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13385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&amp; few-shot prompting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77840" y="1463040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instructions directly, or guiding the model with a small number of worked examples.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26280" y="2505456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82312" y="2871216"/>
            <a:ext cx="566928" cy="566928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18" name="Image 2" descr="icons/deeple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871" y="2998775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77840" y="263347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 reasoning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577840" y="2962656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a model to reason step by step, which improves accuracy on multi-step problems.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26280" y="4005072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82312" y="4370832"/>
            <a:ext cx="566928" cy="566928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23" name="Image 3" descr="icons/ll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871" y="4498391"/>
            <a:ext cx="311810" cy="3118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413308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577840" y="4462272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reliable JSON, function-call style output, and constrained formats out of a model.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526280" y="5504688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82312" y="5870448"/>
            <a:ext cx="566928" cy="566928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28" name="Image 4" descr="icons/resourc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871" y="5998007"/>
            <a:ext cx="311810" cy="31181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77840" y="563270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evaluation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577840" y="5961888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prompts systematically against sample inputs before shipping them into a product.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316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C6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960120" cy="96012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5" name="Image 0" descr="icons/r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164774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06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Augmented Generation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36576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model answers in your own knowledge base instead of relying only on what the model memorized during training.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5623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5897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FAISS, Pinecone, Chroma, LangChain, LlamaIndex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26280" y="5029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26280" y="1005840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82312" y="1371600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3" name="Image 1" descr="icons/r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871" y="1499159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13385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vector search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77840" y="1463040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documents into vectors and finding the most semantically similar ones to a query.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26280" y="2505456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82312" y="2871216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8" name="Image 2" descr="icons/founda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871" y="2998775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77840" y="263347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577840" y="2962656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source documents into retrievable pieces without losing important context.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26280" y="4005072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82312" y="4370832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23" name="Image 3" descr="icons/ll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871" y="4498391"/>
            <a:ext cx="311810" cy="3118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413308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577840" y="4462272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and searching embeddings at scale with tools such as FAISS, Pinecone, or Chroma.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526280" y="5504688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82312" y="5870448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28" name="Image 4" descr="icons/promp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871" y="5998007"/>
            <a:ext cx="311810" cy="31181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77840" y="563270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augmented prompting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577840" y="5961888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Injecting retrieved context into a prompt so the model answers using grounded information.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316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7D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960120" cy="960120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5" name="Image 0" descr="icons/finetu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164774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06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&amp; Customization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36576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beyond prompting and retrieval to adapt a model's own weights for a specific domain, tone, or task.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5623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7D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5897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LoRA, QLoRA, PEFT, Hugging Face Trainer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26280" y="5029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26280" y="1005840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82312" y="1371600"/>
            <a:ext cx="566928" cy="566928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13" name="Image 1" descr="icons/finetu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871" y="1499159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13385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vs parameter efficient tuning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77840" y="1463040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full fine-tuning is costly, and how LoRA and QLoRA adapt models cheaply.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26280" y="2505456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82312" y="2871216"/>
            <a:ext cx="566928" cy="566928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18" name="Image 2" descr="icons/deeple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871" y="2998775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77840" y="263347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577840" y="2962656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clean, well-labeled instruction or preference dataset for tuning a model.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26280" y="4005072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82312" y="4370832"/>
            <a:ext cx="566928" cy="566928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23" name="Image 3" descr="icons/ll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871" y="4498391"/>
            <a:ext cx="311810" cy="3118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413308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after tuning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577840" y="4462272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whether a fine-tuned model actually improved on the target task, not just memorized it.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526280" y="5504688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82312" y="5870448"/>
            <a:ext cx="566928" cy="566928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28" name="Image 4" descr="icons/resourc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871" y="5998007"/>
            <a:ext cx="311810" cy="31181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77840" y="563270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fine-tune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577840" y="5961888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when better prompting or retrieval solves the problem more cheaply than tuning.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316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C6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960120" cy="96012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5" name="Image 0" descr="icons/ag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164774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06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&amp; Tool Use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36576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 model from answering questions to taking actions, calling tools, and completing multi-step tasks.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5623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5897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calling, LangGraph, CrewAI, MCP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26280" y="5029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26280" y="1005840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82312" y="1371600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3" name="Image 1" descr="icons/ag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871" y="1499159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13385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and tool calling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77840" y="1463040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a model call external APIs, run code, or query a database as part of its response.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26280" y="2505456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82312" y="2871216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8" name="Image 2" descr="icons/r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871" y="2998775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77840" y="263347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multi-step reasoning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577840" y="2962656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a goal into steps, and letting the model decide which tool to use at each step.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26280" y="4005072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82312" y="4370832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23" name="Image 3" descr="icons/ll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871" y="4498391"/>
            <a:ext cx="311810" cy="3118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413308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state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577840" y="4462272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an agent short and long term memory so it can act coherently across a session.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526280" y="5504688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82312" y="5870448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28" name="Image 4" descr="icons/foundatio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871" y="5998007"/>
            <a:ext cx="311810" cy="31181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77840" y="563270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577840" y="5961888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several specialized agents that collaborate to complete a larger task.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316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7D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960120" cy="960120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5" name="Image 0" descr="icons/depl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164774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06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MLOps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36576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working prototype into a reliable, monitored, and safe production system.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5623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7D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5897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Kubernetes, LangSmith, evaluation suites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26280" y="5029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26280" y="1005840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82312" y="1371600"/>
            <a:ext cx="566928" cy="566928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13" name="Image 1" descr="icons/deplo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871" y="1499159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13385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&amp; scaling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77840" y="1463040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a model through an API, managing latency and cost, and scaling under real traffic.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26280" y="2505456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82312" y="2871216"/>
            <a:ext cx="566928" cy="566928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18" name="Image 2" descr="icons/ll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871" y="2998775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77840" y="263347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monitoring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577840" y="2962656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answer quality, latency, and cost in production, and catching regressions early.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26280" y="4005072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82312" y="4370832"/>
            <a:ext cx="566928" cy="566928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23" name="Image 3" descr="icons/r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871" y="4498391"/>
            <a:ext cx="311810" cy="3118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413308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guardrails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577840" y="4462272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filtering, prompt injection defenses, and human review for high-risk actions.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526280" y="5504688"/>
            <a:ext cx="71323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7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C2E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82312" y="5870448"/>
            <a:ext cx="566928" cy="566928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28" name="Image 4" descr="icons/resourc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871" y="5998007"/>
            <a:ext cx="311810" cy="31181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77840" y="563270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577840" y="5961888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feedback and failure cases to keep improving prompts, retrieval, and tuning over time.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754880" cy="4754880"/>
          </a:xfrm>
          <a:prstGeom prst="ellipse">
            <a:avLst/>
          </a:prstGeom>
          <a:solidFill>
            <a:srgbClr val="6C63FF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Start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to master every phase before building something real.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423160"/>
            <a:ext cx="502920" cy="502920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6" name="Image 0" descr="icons/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25488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236829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building early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26791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with an existing model API from phase 3 while you continue learning the fundamentals in parallel.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3355848"/>
            <a:ext cx="502920" cy="502920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11" name="Image 1" descr="icons/road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348157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3355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508760" y="330098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prompting deeply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50876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fastest, cheapest lever, and it improves every project regardless of which model you use.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77240" y="4288536"/>
            <a:ext cx="502920" cy="502920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16" name="Image 2" descr="icons/road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4414266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" y="4288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08760" y="423367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retrieval before fine-tuning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508760" y="45445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solves most knowledge grounding problems without the cost and complexity of training a model.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77240" y="5221224"/>
            <a:ext cx="502920" cy="502920"/>
          </a:xfrm>
          <a:prstGeom prst="ellipse">
            <a:avLst/>
          </a:prstGeom>
          <a:solidFill>
            <a:srgbClr val="17D7C4"/>
          </a:solidFill>
          <a:ln/>
        </p:spPr>
      </p:sp>
      <p:pic>
        <p:nvPicPr>
          <p:cNvPr id="21" name="Image 3" descr="icons/road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5346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5221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508760" y="51663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deployment as a phase, not an afterthought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508760" y="54772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monitoring, and safety should be part of the plan from the first prototype.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2026-07-17T14:12:28Z</dcterms:created>
  <dcterms:modified xsi:type="dcterms:W3CDTF">2026-07-17T14:12:28Z</dcterms:modified>
</cp:coreProperties>
</file>